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304" r:id="rId5"/>
    <p:sldId id="307" r:id="rId6"/>
    <p:sldId id="280" r:id="rId7"/>
    <p:sldId id="281" r:id="rId8"/>
    <p:sldId id="282" r:id="rId9"/>
    <p:sldId id="305" r:id="rId10"/>
    <p:sldId id="283" r:id="rId11"/>
    <p:sldId id="301" r:id="rId12"/>
    <p:sldId id="302" r:id="rId13"/>
    <p:sldId id="306" r:id="rId14"/>
    <p:sldId id="303" r:id="rId1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81" d="100"/>
          <a:sy n="81" d="100"/>
        </p:scale>
        <p:origin x="7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2"/>
            <a:ext cx="3281680" cy="538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16" tIns="48357" rIns="96716" bIns="48357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289215" y="2"/>
            <a:ext cx="3281680" cy="538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16" tIns="48357" rIns="96716" bIns="4835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048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4788" y="804863"/>
            <a:ext cx="7164387" cy="40306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56922" y="5105640"/>
            <a:ext cx="6058747" cy="4835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16" tIns="48357" rIns="96716" bIns="483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10206277"/>
            <a:ext cx="3281680" cy="5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16" tIns="48357" rIns="96716" bIns="48357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289215" y="10206277"/>
            <a:ext cx="3281680" cy="5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16" tIns="48357" rIns="96716" bIns="4835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04859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1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04867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6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7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04867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2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3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5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04868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04865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04869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04869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10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48611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04861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0486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0486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1082509" y="722533"/>
            <a:ext cx="10026977" cy="1255952"/>
          </a:xfrm>
        </p:spPr>
        <p:txBody>
          <a:bodyPr>
            <a:noAutofit/>
          </a:bodyPr>
          <a:lstStyle/>
          <a:p>
            <a:r>
              <a:rPr lang="en-US" sz="2800" b="1" dirty="0"/>
              <a:t>Machine Learning-Based Prediction and Optimization of Microhardness and Relative Density in Selective Laser Melted Inconel 718</a:t>
            </a:r>
            <a:endParaRPr lang="en-US" sz="2800" b="1" dirty="0">
              <a:latin typeface="Calibri"/>
              <a:cs typeface="Calibri"/>
            </a:endParaRP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0" y="3328986"/>
            <a:ext cx="4526043" cy="17982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Guided by:</a:t>
            </a:r>
          </a:p>
          <a:p>
            <a:r>
              <a:rPr lang="en-US" sz="2000" dirty="0">
                <a:cs typeface="Calibri"/>
              </a:rPr>
              <a:t>Prof. Arun B S</a:t>
            </a:r>
            <a:br>
              <a:rPr lang="en-US" sz="2000" dirty="0">
                <a:cs typeface="Calibri"/>
              </a:rPr>
            </a:br>
            <a:r>
              <a:rPr lang="en-US" sz="2000" dirty="0">
                <a:cs typeface="Calibri"/>
              </a:rPr>
              <a:t>Assistant Professor </a:t>
            </a:r>
          </a:p>
          <a:p>
            <a:endParaRPr lang="en-US" sz="2000" dirty="0"/>
          </a:p>
        </p:txBody>
      </p:sp>
      <p:pic>
        <p:nvPicPr>
          <p:cNvPr id="2097152" name="Picture 4" descr="A black and white logo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8" y="2948734"/>
            <a:ext cx="1905000" cy="2178503"/>
          </a:xfrm>
          <a:prstGeom prst="rect">
            <a:avLst/>
          </a:prstGeom>
        </p:spPr>
      </p:pic>
      <p:sp>
        <p:nvSpPr>
          <p:cNvPr id="1048588" name="TextBox 6"/>
          <p:cNvSpPr txBox="1"/>
          <p:nvPr/>
        </p:nvSpPr>
        <p:spPr>
          <a:xfrm>
            <a:off x="3560988" y="5427581"/>
            <a:ext cx="507002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+mj-lt"/>
                <a:cs typeface="Calibri"/>
              </a:rPr>
              <a:t>Department of Mechanical Engineering</a:t>
            </a:r>
          </a:p>
          <a:p>
            <a:pPr algn="ctr"/>
            <a:r>
              <a:rPr lang="en-US" sz="2000" dirty="0">
                <a:latin typeface="+mj-lt"/>
                <a:cs typeface="Calibri"/>
              </a:rPr>
              <a:t>College of Engineering Trivandrum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A2DD90D-8E79-245F-6561-DDC8F917D91D}"/>
              </a:ext>
            </a:extLst>
          </p:cNvPr>
          <p:cNvSpPr txBox="1">
            <a:spLocks/>
          </p:cNvSpPr>
          <p:nvPr/>
        </p:nvSpPr>
        <p:spPr>
          <a:xfrm>
            <a:off x="7665953" y="3328986"/>
            <a:ext cx="4526043" cy="17982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0000"/>
                </a:solidFill>
                <a:ea typeface="Segoe UI"/>
                <a:cs typeface="Segoe UI"/>
              </a:rPr>
              <a:t>Presented by:</a:t>
            </a:r>
            <a:endParaRPr lang="en-US" sz="2000" dirty="0">
              <a:cs typeface="Calibri"/>
            </a:endParaRPr>
          </a:p>
          <a:p>
            <a:r>
              <a:rPr lang="en-US" sz="2000" dirty="0">
                <a:solidFill>
                  <a:srgbClr val="000000"/>
                </a:solidFill>
                <a:ea typeface="Segoe UI"/>
                <a:cs typeface="Segoe UI"/>
              </a:rPr>
              <a:t>Abhinav U ( Roll no: 4 )</a:t>
            </a:r>
            <a:br>
              <a:rPr lang="en-US" sz="2000" dirty="0">
                <a:solidFill>
                  <a:srgbClr val="000000"/>
                </a:solidFill>
                <a:ea typeface="Segoe UI"/>
                <a:cs typeface="Segoe UI"/>
              </a:rPr>
            </a:br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  <a:t>Arjun M Nair ( Roll no: 17 )</a:t>
            </a:r>
            <a:b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</a:br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  <a:t>Anurag T K (Roll no: 86 )</a:t>
            </a:r>
            <a:b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</a:br>
            <a:r>
              <a:rPr lang="en-US" sz="2000" dirty="0">
                <a:solidFill>
                  <a:srgbClr val="000000"/>
                </a:solidFill>
                <a:ea typeface="Calibri"/>
                <a:cs typeface="Calibri"/>
              </a:rPr>
              <a:t>Vishal Krishna S ( Roll no: 83 )</a:t>
            </a:r>
            <a:endParaRPr lang="en-US" sz="2000" dirty="0"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cs typeface="Calibri"/>
              </a:rPr>
              <a:t>CONTENTS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cs typeface="Calibri"/>
              </a:rPr>
              <a:t>Introduction </a:t>
            </a:r>
          </a:p>
          <a:p>
            <a:r>
              <a:rPr lang="en-US" sz="2000" dirty="0">
                <a:cs typeface="Calibri"/>
              </a:rPr>
              <a:t>Literature Review </a:t>
            </a:r>
          </a:p>
          <a:p>
            <a:r>
              <a:rPr lang="en-US" sz="2000" dirty="0">
                <a:cs typeface="Calibri"/>
              </a:rPr>
              <a:t>Research Gap and Objectives </a:t>
            </a:r>
          </a:p>
          <a:p>
            <a:r>
              <a:rPr lang="en-US" sz="2000" dirty="0">
                <a:cs typeface="Calibri"/>
              </a:rPr>
              <a:t>Methodology </a:t>
            </a:r>
          </a:p>
          <a:p>
            <a:r>
              <a:rPr lang="en-US" sz="2000" dirty="0">
                <a:cs typeface="Calibri"/>
              </a:rPr>
              <a:t>Conclusion </a:t>
            </a:r>
          </a:p>
          <a:p>
            <a:r>
              <a:rPr lang="en-US" sz="2000" dirty="0">
                <a:cs typeface="Calibri"/>
              </a:rPr>
              <a:t>References</a:t>
            </a:r>
            <a:endParaRPr lang="en-US" sz="2000" dirty="0"/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838200" y="584462"/>
            <a:ext cx="10515599" cy="878746"/>
          </a:xfrm>
        </p:spPr>
        <p:txBody>
          <a:bodyPr>
            <a:normAutofit/>
          </a:bodyPr>
          <a:lstStyle/>
          <a:p>
            <a:r>
              <a:rPr lang="en-US" sz="3600" b="1" dirty="0">
                <a:cs typeface="Calibri"/>
              </a:rPr>
              <a:t>INTRODUCTION</a:t>
            </a:r>
            <a:endParaRPr lang="en-US" sz="3600" dirty="0">
              <a:cs typeface="Calibri"/>
            </a:endParaRP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>
          <a:xfrm>
            <a:off x="838200" y="1395167"/>
            <a:ext cx="6186436" cy="478179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Additive Manufacturing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Layer-by-layer fabrication directly from CAD models.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Enables complex geometries with reduced material waste.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/>
          </a:p>
          <a:p>
            <a:pPr marL="0" indent="0">
              <a:buNone/>
            </a:pPr>
            <a:r>
              <a:rPr lang="en-US" sz="2000" b="1" dirty="0"/>
              <a:t>Selective Laser Melting (SLM)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Laser Powder Bed Fusion process for manufacturing fully dense metallic components.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Widely adopted for aerospace and high-performance engineering applications.</a:t>
            </a:r>
          </a:p>
        </p:txBody>
      </p:sp>
      <p:sp>
        <p:nvSpPr>
          <p:cNvPr id="104860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4" descr="A black and white logo  Description automatically generated">
            <a:extLst>
              <a:ext uri="{FF2B5EF4-FFF2-40B4-BE49-F238E27FC236}">
                <a16:creationId xmlns:a16="http://schemas.microsoft.com/office/drawing/2014/main" id="{0EBBE794-4C45-D095-7B55-DC38A1043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83891"/>
            <a:ext cx="557538" cy="6375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8C9B24-E5D3-3209-5FD8-0FE64FFE8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082" y="1959280"/>
            <a:ext cx="3938850" cy="2939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6B3C60-F3CC-9572-2591-754DAC8DCC7C}"/>
              </a:ext>
            </a:extLst>
          </p:cNvPr>
          <p:cNvSpPr txBox="1"/>
          <p:nvPr/>
        </p:nvSpPr>
        <p:spPr>
          <a:xfrm>
            <a:off x="7193082" y="4898720"/>
            <a:ext cx="39388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Fig 1. Selective Laser Melting  (image source: yigurp.com)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C19E4-CCF6-60CB-0795-8D18E48FB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>
            <a:extLst>
              <a:ext uri="{FF2B5EF4-FFF2-40B4-BE49-F238E27FC236}">
                <a16:creationId xmlns:a16="http://schemas.microsoft.com/office/drawing/2014/main" id="{5F3123D1-7198-2D1B-D35D-3540E686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462"/>
            <a:ext cx="10515599" cy="878746"/>
          </a:xfrm>
        </p:spPr>
        <p:txBody>
          <a:bodyPr>
            <a:normAutofit/>
          </a:bodyPr>
          <a:lstStyle/>
          <a:p>
            <a:r>
              <a:rPr lang="en-US" sz="3600" b="1" dirty="0">
                <a:cs typeface="Calibri"/>
              </a:rPr>
              <a:t>INTRODUCTION…</a:t>
            </a:r>
            <a:endParaRPr lang="en-US" sz="3600" dirty="0">
              <a:cs typeface="Calibri"/>
            </a:endParaRPr>
          </a:p>
        </p:txBody>
      </p:sp>
      <p:sp>
        <p:nvSpPr>
          <p:cNvPr id="1048599" name="Content Placeholder 2">
            <a:extLst>
              <a:ext uri="{FF2B5EF4-FFF2-40B4-BE49-F238E27FC236}">
                <a16:creationId xmlns:a16="http://schemas.microsoft.com/office/drawing/2014/main" id="{E091C45C-3CBC-54EC-6CA6-A66B05830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5167"/>
            <a:ext cx="10515599" cy="47817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Inconel 718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Nickel-based precipitation-</a:t>
            </a:r>
            <a:r>
              <a:rPr lang="en-US" sz="1800" dirty="0" err="1"/>
              <a:t>hardenable</a:t>
            </a:r>
            <a:r>
              <a:rPr lang="en-US" sz="1800" dirty="0"/>
              <a:t> superalloy.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Excellent strength, corrosion resistance, and high-temperature performance.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Commonly used in turbine engines, aerospace, and power generation and in industries requiring high strength, excellent corrosion resistance, and superior performance at elevated temperatures.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18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/>
              <a:t>It also exhibits excellent fatigue, creep, and oxidation resistance, making it one of the most extensively used superalloys in demanding engineering applications.</a:t>
            </a:r>
          </a:p>
        </p:txBody>
      </p:sp>
      <p:sp>
        <p:nvSpPr>
          <p:cNvPr id="1048600" name="Slide Number Placeholder 3">
            <a:extLst>
              <a:ext uri="{FF2B5EF4-FFF2-40B4-BE49-F238E27FC236}">
                <a16:creationId xmlns:a16="http://schemas.microsoft.com/office/drawing/2014/main" id="{24572A04-F870-FD40-A107-B7BC7373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4" descr="A black and white logo  Description automatically generated">
            <a:extLst>
              <a:ext uri="{FF2B5EF4-FFF2-40B4-BE49-F238E27FC236}">
                <a16:creationId xmlns:a16="http://schemas.microsoft.com/office/drawing/2014/main" id="{4C4A9BC4-14ED-B220-EA8E-98C8E8E2B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83891"/>
            <a:ext cx="557538" cy="63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12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C9E96-9457-968A-7340-82D03A236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>
            <a:extLst>
              <a:ext uri="{FF2B5EF4-FFF2-40B4-BE49-F238E27FC236}">
                <a16:creationId xmlns:a16="http://schemas.microsoft.com/office/drawing/2014/main" id="{D9BF6261-A48D-67C6-88F8-22B577423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462"/>
            <a:ext cx="10515599" cy="878746"/>
          </a:xfrm>
        </p:spPr>
        <p:txBody>
          <a:bodyPr>
            <a:normAutofit/>
          </a:bodyPr>
          <a:lstStyle/>
          <a:p>
            <a:r>
              <a:rPr lang="en-US" sz="3600" b="1" dirty="0">
                <a:cs typeface="Calibri"/>
              </a:rPr>
              <a:t>INTRODUCTION…</a:t>
            </a:r>
            <a:endParaRPr lang="en-US" sz="3600" dirty="0">
              <a:cs typeface="Calibri"/>
            </a:endParaRPr>
          </a:p>
        </p:txBody>
      </p:sp>
      <p:sp>
        <p:nvSpPr>
          <p:cNvPr id="1048599" name="Content Placeholder 2">
            <a:extLst>
              <a:ext uri="{FF2B5EF4-FFF2-40B4-BE49-F238E27FC236}">
                <a16:creationId xmlns:a16="http://schemas.microsoft.com/office/drawing/2014/main" id="{661ED713-D8F4-C7E9-E356-CB1421D95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5167"/>
            <a:ext cx="10515599" cy="47817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endParaRPr lang="en-US" sz="2000" b="1" dirty="0"/>
          </a:p>
          <a:p>
            <a:pPr marL="0" indent="0" algn="just">
              <a:buNone/>
            </a:pPr>
            <a:r>
              <a:rPr lang="en-US" sz="2000" b="1" dirty="0"/>
              <a:t>Applications of Inconel 718</a:t>
            </a:r>
            <a:endParaRPr lang="en-US" sz="2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800" dirty="0"/>
              <a:t>Aerospace: Turbine discs, compressor blades, combustion chambers, and jet engine components.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800" dirty="0"/>
              <a:t>Gas Turbines: Turbine blades, rotors, and hot-section components.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800" dirty="0"/>
              <a:t>Oil and Gas: Downhole tools, valves, wellhead equipment, and drilling components.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800" dirty="0"/>
              <a:t>Nuclear Industry: Reactor components and steam generator parts.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800" dirty="0"/>
              <a:t>Chemical Processing: Heat exchangers, pressure vessels, pumps, and piping systems exposed to corrosive environments.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800" dirty="0"/>
              <a:t>Automotive and Power Generation: Turbocharger components, exhaust systems, and high-temperature structural parts.</a:t>
            </a:r>
          </a:p>
        </p:txBody>
      </p:sp>
      <p:sp>
        <p:nvSpPr>
          <p:cNvPr id="1048600" name="Slide Number Placeholder 3">
            <a:extLst>
              <a:ext uri="{FF2B5EF4-FFF2-40B4-BE49-F238E27FC236}">
                <a16:creationId xmlns:a16="http://schemas.microsoft.com/office/drawing/2014/main" id="{3527AA2D-1EB7-8D1B-3727-A0A59E66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4" descr="A black and white logo  Description automatically generated">
            <a:extLst>
              <a:ext uri="{FF2B5EF4-FFF2-40B4-BE49-F238E27FC236}">
                <a16:creationId xmlns:a16="http://schemas.microsoft.com/office/drawing/2014/main" id="{71F8B848-A40F-19B2-6B9B-8734F5876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83891"/>
            <a:ext cx="557538" cy="63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402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EFE9-9E0E-96A7-16E0-E0DEDB16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F65B0-1E9E-5313-ACDB-76E832669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A4FDEB-892D-AE83-ACCD-A2F3AE9DA4B0}"/>
              </a:ext>
            </a:extLst>
          </p:cNvPr>
          <p:cNvSpPr txBox="1">
            <a:spLocks/>
          </p:cNvSpPr>
          <p:nvPr/>
        </p:nvSpPr>
        <p:spPr>
          <a:xfrm>
            <a:off x="838200" y="545654"/>
            <a:ext cx="10515600" cy="955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cs typeface="Calibri"/>
              </a:rPr>
              <a:t>LITERATURE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7D1447-0F16-C3F9-09CD-EE6347BC8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3682"/>
              </p:ext>
            </p:extLst>
          </p:nvPr>
        </p:nvGraphicFramePr>
        <p:xfrm>
          <a:off x="963104" y="1318201"/>
          <a:ext cx="10265790" cy="4152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989">
                  <a:extLst>
                    <a:ext uri="{9D8B030D-6E8A-4147-A177-3AD203B41FA5}">
                      <a16:colId xmlns:a16="http://schemas.microsoft.com/office/drawing/2014/main" val="2809663331"/>
                    </a:ext>
                  </a:extLst>
                </a:gridCol>
                <a:gridCol w="2891808">
                  <a:extLst>
                    <a:ext uri="{9D8B030D-6E8A-4147-A177-3AD203B41FA5}">
                      <a16:colId xmlns:a16="http://schemas.microsoft.com/office/drawing/2014/main" val="3726727056"/>
                    </a:ext>
                  </a:extLst>
                </a:gridCol>
                <a:gridCol w="3138096">
                  <a:extLst>
                    <a:ext uri="{9D8B030D-6E8A-4147-A177-3AD203B41FA5}">
                      <a16:colId xmlns:a16="http://schemas.microsoft.com/office/drawing/2014/main" val="3745117963"/>
                    </a:ext>
                  </a:extLst>
                </a:gridCol>
                <a:gridCol w="868396">
                  <a:extLst>
                    <a:ext uri="{9D8B030D-6E8A-4147-A177-3AD203B41FA5}">
                      <a16:colId xmlns:a16="http://schemas.microsoft.com/office/drawing/2014/main" val="403881466"/>
                    </a:ext>
                  </a:extLst>
                </a:gridCol>
                <a:gridCol w="2539501">
                  <a:extLst>
                    <a:ext uri="{9D8B030D-6E8A-4147-A177-3AD203B41FA5}">
                      <a16:colId xmlns:a16="http://schemas.microsoft.com/office/drawing/2014/main" val="851487572"/>
                    </a:ext>
                  </a:extLst>
                </a:gridCol>
              </a:tblGrid>
              <a:tr h="323745">
                <a:tc>
                  <a:txBody>
                    <a:bodyPr/>
                    <a:lstStyle/>
                    <a:p>
                      <a:r>
                        <a:rPr lang="en-US" sz="1050" dirty="0" err="1"/>
                        <a:t>Sl</a:t>
                      </a:r>
                      <a:r>
                        <a:rPr lang="en-US" sz="1050" dirty="0"/>
                        <a:t>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Article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Journal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Key Finding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964564"/>
                  </a:ext>
                </a:extLst>
              </a:tr>
              <a:tr h="9413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b="0" i="0" u="none" strike="noStrike" noProof="0">
                          <a:latin typeface="Aptos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050" dirty="0"/>
                        <a:t>Effects of Process Parameters and Heat Treatment on Microstructure and Mechanical Characteristics of Laser Powder Bed Fusion Alloy Inconel 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050" dirty="0"/>
                        <a:t>Coatings (MDPI)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050" dirty="0"/>
                        <a:t>Process parameters significantly influence porosity; An energy density of 60 J/mm³ achieved minimum porosity (0.15%), while non-optimal energy densities increased defects.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746670"/>
                  </a:ext>
                </a:extLst>
              </a:tr>
              <a:tr h="9413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050" dirty="0"/>
                        <a:t>Formability, Microstructure and Properties of Inconel 718 Superalloy Fabricated by Selective Laser Melting Additive Manufacture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050" dirty="0"/>
                        <a:t>Materials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050" dirty="0"/>
                        <a:t>Laser energy density directly affects the microhardness of SLM Inconel 718; strongly influenced microhardness, with higher energy densities producing greater hardness (290.2–348 HV₀.₂).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52632"/>
                  </a:ext>
                </a:extLst>
              </a:tr>
              <a:tr h="7723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Data-driven printability mapping of </a:t>
                      </a:r>
                      <a:r>
                        <a:rPr lang="en-US" sz="1050" dirty="0" err="1"/>
                        <a:t>Lpbf</a:t>
                      </a:r>
                      <a:r>
                        <a:rPr lang="en-US" sz="1050" dirty="0"/>
                        <a:t> of Inconel 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dirty="0"/>
                        <a:t>The International Journal of Advanced </a:t>
                      </a:r>
                      <a:r>
                        <a:rPr lang="en-US" sz="1050"/>
                        <a:t>Manufacturing Technology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dirty="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050" b="0" dirty="0"/>
                        <a:t>Machine learning models can accurately predict the relative density of SLM Inconel 718 from process parameters, enabling efficient process optimization.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618775"/>
                  </a:ext>
                </a:extLst>
              </a:tr>
              <a:tr h="60341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Effect of building orientation &amp; heat-treatment on microhardness &amp; surface roughness of additive manufactured IN718 alloy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050" dirty="0"/>
                        <a:t>Materials Today : Proceedings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50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050" dirty="0"/>
                        <a:t>Build orientation significantly influences the microhardness of additively manufactured IN718.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256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397388"/>
                  </a:ext>
                </a:extLst>
              </a:tr>
            </a:tbl>
          </a:graphicData>
        </a:graphic>
      </p:graphicFrame>
      <p:pic>
        <p:nvPicPr>
          <p:cNvPr id="2" name="Picture 4" descr="A black and white logo  Description automatically generated">
            <a:extLst>
              <a:ext uri="{FF2B5EF4-FFF2-40B4-BE49-F238E27FC236}">
                <a16:creationId xmlns:a16="http://schemas.microsoft.com/office/drawing/2014/main" id="{FF977213-186B-C2E0-2343-CE1BEB22D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83891"/>
            <a:ext cx="557538" cy="63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86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CB61-27A4-A606-5F47-270038D1E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EA100-2938-EF44-F1CD-EB3345D36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789F16-7187-4A60-803F-DF1CD3AC5CC8}"/>
              </a:ext>
            </a:extLst>
          </p:cNvPr>
          <p:cNvSpPr txBox="1">
            <a:spLocks/>
          </p:cNvSpPr>
          <p:nvPr/>
        </p:nvSpPr>
        <p:spPr>
          <a:xfrm>
            <a:off x="838200" y="545654"/>
            <a:ext cx="10515600" cy="955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cs typeface="Calibri"/>
              </a:rPr>
              <a:t>LITERATURE REVIEW…</a:t>
            </a:r>
          </a:p>
        </p:txBody>
      </p:sp>
      <p:pic>
        <p:nvPicPr>
          <p:cNvPr id="2" name="Picture 4" descr="A black and white logo  Description automatically generated">
            <a:extLst>
              <a:ext uri="{FF2B5EF4-FFF2-40B4-BE49-F238E27FC236}">
                <a16:creationId xmlns:a16="http://schemas.microsoft.com/office/drawing/2014/main" id="{41A3EA2D-D67A-E1FC-4C0F-29CC265BF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83891"/>
            <a:ext cx="557538" cy="6375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6257B1-4785-0596-6368-8D0C2CA53D6D}"/>
              </a:ext>
            </a:extLst>
          </p:cNvPr>
          <p:cNvSpPr txBox="1"/>
          <p:nvPr/>
        </p:nvSpPr>
        <p:spPr>
          <a:xfrm>
            <a:off x="838200" y="1300899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SLM process parameters such as </a:t>
            </a:r>
            <a:r>
              <a:rPr lang="en-US" b="1" dirty="0"/>
              <a:t>laser power, scanning speed, layer thickness, </a:t>
            </a:r>
            <a:r>
              <a:rPr lang="en-US" b="1" dirty="0" err="1"/>
              <a:t>etc</a:t>
            </a:r>
            <a:r>
              <a:rPr lang="en-US" b="1" dirty="0"/>
              <a:t> as well as build orientation</a:t>
            </a:r>
            <a:r>
              <a:rPr lang="en-US" dirty="0"/>
              <a:t> significantly influence melt pool characteristics, relative density and defect formation. </a:t>
            </a:r>
          </a:p>
          <a:p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These processing conditions govern </a:t>
            </a:r>
            <a:r>
              <a:rPr lang="en-US" b="1" dirty="0"/>
              <a:t>grain morphology, dendritic growth, crystallographic texture and precipitate evolution</a:t>
            </a:r>
            <a:r>
              <a:rPr lang="en-US" dirty="0"/>
              <a:t>, resulting in different microstructures.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Heat treatment</a:t>
            </a:r>
            <a:r>
              <a:rPr lang="en-US" dirty="0"/>
              <a:t> further modifies the γ′, γ″, δ and Laves phases, enhancing strength while reducing microstructural heterogeneity.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 combined effects of </a:t>
            </a:r>
            <a:r>
              <a:rPr lang="en-US" b="1" dirty="0"/>
              <a:t>process parameters, microstructure and heat treatment</a:t>
            </a:r>
            <a:r>
              <a:rPr lang="en-US" dirty="0"/>
              <a:t> determine the mechanical properties, including tensile strength, porosity, hardness and anisotropy, of SLM-fabricated Inconel 718.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These studies establish a clear </a:t>
            </a:r>
            <a:r>
              <a:rPr lang="en-US" b="1" dirty="0"/>
              <a:t>process–structure–property relationship</a:t>
            </a:r>
            <a:r>
              <a:rPr lang="en-US" dirty="0"/>
              <a:t>, providing the basis for developing </a:t>
            </a:r>
            <a:r>
              <a:rPr lang="en-US" b="1" dirty="0"/>
              <a:t>Machine Learning models to predict microhardness and relative density</a:t>
            </a:r>
            <a:r>
              <a:rPr lang="en-US" dirty="0"/>
              <a:t> and optimize SLM process parameters. </a:t>
            </a:r>
          </a:p>
        </p:txBody>
      </p:sp>
    </p:spTree>
    <p:extLst>
      <p:ext uri="{BB962C8B-B14F-4D97-AF65-F5344CB8AC3E}">
        <p14:creationId xmlns:p14="http://schemas.microsoft.com/office/powerpoint/2010/main" val="3751285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3E3A2-D064-347B-55EE-622F403F3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2BEE2-2F41-0BCF-4846-7140A0E4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D4E697-F13C-AD69-1588-CEC06FD18D86}"/>
              </a:ext>
            </a:extLst>
          </p:cNvPr>
          <p:cNvSpPr txBox="1">
            <a:spLocks/>
          </p:cNvSpPr>
          <p:nvPr/>
        </p:nvSpPr>
        <p:spPr>
          <a:xfrm>
            <a:off x="838200" y="545654"/>
            <a:ext cx="10515600" cy="955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cs typeface="Calibri"/>
              </a:rPr>
              <a:t>GAPS IDENTIFIED AND OBJECTIVES</a:t>
            </a:r>
          </a:p>
        </p:txBody>
      </p:sp>
      <p:pic>
        <p:nvPicPr>
          <p:cNvPr id="2" name="Picture 4" descr="A black and white logo  Description automatically generated">
            <a:extLst>
              <a:ext uri="{FF2B5EF4-FFF2-40B4-BE49-F238E27FC236}">
                <a16:creationId xmlns:a16="http://schemas.microsoft.com/office/drawing/2014/main" id="{BAD90759-DFC5-3F5C-2DC9-88D521586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83891"/>
            <a:ext cx="557538" cy="6375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5DBA5B-3DFD-E22C-C0EE-3B4FA7C2E02A}"/>
              </a:ext>
            </a:extLst>
          </p:cNvPr>
          <p:cNvSpPr txBox="1"/>
          <p:nvPr/>
        </p:nvSpPr>
        <p:spPr>
          <a:xfrm>
            <a:off x="838200" y="1300899"/>
            <a:ext cx="10515600" cy="3007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RESEARCH GAP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The influence of build orientation on the relative density and microhardness of SLM Inconel 718 has not been comprehensively investigated, particularly in relation to different process parameter combinations.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The integration of machine learning for predicting and optimizing the density and microhardness of SLM Inconel 718 based on process parameters and build orientation remains limited and requires further study.</a:t>
            </a:r>
          </a:p>
        </p:txBody>
      </p:sp>
    </p:spTree>
    <p:extLst>
      <p:ext uri="{BB962C8B-B14F-4D97-AF65-F5344CB8AC3E}">
        <p14:creationId xmlns:p14="http://schemas.microsoft.com/office/powerpoint/2010/main" val="324945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A196-63BA-274C-B9BA-F387A8A4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4C785-BD8A-EAEA-4C30-A6FA89F4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E1C3C54-C8DB-2A10-9A11-1BC4BD262BC8}"/>
              </a:ext>
            </a:extLst>
          </p:cNvPr>
          <p:cNvSpPr txBox="1">
            <a:spLocks/>
          </p:cNvSpPr>
          <p:nvPr/>
        </p:nvSpPr>
        <p:spPr>
          <a:xfrm>
            <a:off x="838200" y="545654"/>
            <a:ext cx="10515600" cy="955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cs typeface="Calibri"/>
              </a:rPr>
              <a:t>GAPS IDENTIFIED AND OBJECTIVES</a:t>
            </a:r>
          </a:p>
        </p:txBody>
      </p:sp>
      <p:pic>
        <p:nvPicPr>
          <p:cNvPr id="2" name="Picture 4" descr="A black and white logo  Description automatically generated">
            <a:extLst>
              <a:ext uri="{FF2B5EF4-FFF2-40B4-BE49-F238E27FC236}">
                <a16:creationId xmlns:a16="http://schemas.microsoft.com/office/drawing/2014/main" id="{6F276886-3DA4-C608-927D-29B3A5D5E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83891"/>
            <a:ext cx="557538" cy="6375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CBD25D-9FA6-7119-72D0-8992C8DFCD03}"/>
              </a:ext>
            </a:extLst>
          </p:cNvPr>
          <p:cNvSpPr txBox="1"/>
          <p:nvPr/>
        </p:nvSpPr>
        <p:spPr>
          <a:xfrm>
            <a:off x="838200" y="1300899"/>
            <a:ext cx="10515600" cy="3838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OBJECTIVES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Evaluate the effect of </a:t>
            </a:r>
            <a:r>
              <a:rPr lang="en-US" b="1" dirty="0"/>
              <a:t>build orientation</a:t>
            </a:r>
            <a:r>
              <a:rPr lang="en-US" dirty="0"/>
              <a:t> on the </a:t>
            </a:r>
            <a:r>
              <a:rPr lang="en-US" b="1" dirty="0"/>
              <a:t>relative density and hardness</a:t>
            </a:r>
            <a:r>
              <a:rPr lang="en-US" dirty="0"/>
              <a:t> of SLM-fabricated Inconel 718.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Investigate the influence of key </a:t>
            </a:r>
            <a:r>
              <a:rPr lang="en-US" b="1" dirty="0"/>
              <a:t>SLM process parameters</a:t>
            </a:r>
            <a:r>
              <a:rPr lang="en-US" dirty="0"/>
              <a:t> (laser power, scan speed, layer thickness and build orientation) on material properties.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Determine the </a:t>
            </a:r>
            <a:r>
              <a:rPr lang="en-US" b="1" dirty="0"/>
              <a:t>optimal build orientation</a:t>
            </a:r>
            <a:r>
              <a:rPr lang="en-US" dirty="0"/>
              <a:t> for achieving improved hardness and density.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Develop a </a:t>
            </a:r>
            <a:r>
              <a:rPr lang="en-US" b="1" dirty="0"/>
              <a:t>Machine Learning model</a:t>
            </a:r>
            <a:r>
              <a:rPr lang="en-US" dirty="0"/>
              <a:t> to predict hardness and density from SLM process parameters.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Validate the predicted results through </a:t>
            </a:r>
            <a:r>
              <a:rPr lang="en-US" b="1" dirty="0"/>
              <a:t>experimental studies</a:t>
            </a:r>
            <a:r>
              <a:rPr lang="en-US" dirty="0"/>
              <a:t> and comparison with published literature.</a:t>
            </a:r>
          </a:p>
        </p:txBody>
      </p:sp>
    </p:spTree>
    <p:extLst>
      <p:ext uri="{BB962C8B-B14F-4D97-AF65-F5344CB8AC3E}">
        <p14:creationId xmlns:p14="http://schemas.microsoft.com/office/powerpoint/2010/main" val="1098649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F6A8D-77B2-CD8E-D653-F405D8216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A98DF-7DD9-253C-7DDE-E22265C4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13ACB6-2496-1276-5AFA-8F863CCF7AE3}"/>
              </a:ext>
            </a:extLst>
          </p:cNvPr>
          <p:cNvSpPr txBox="1">
            <a:spLocks/>
          </p:cNvSpPr>
          <p:nvPr/>
        </p:nvSpPr>
        <p:spPr>
          <a:xfrm>
            <a:off x="838200" y="545654"/>
            <a:ext cx="10515600" cy="955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cs typeface="Calibri"/>
              </a:rPr>
              <a:t>METHODOLOGY</a:t>
            </a:r>
          </a:p>
        </p:txBody>
      </p:sp>
      <p:pic>
        <p:nvPicPr>
          <p:cNvPr id="2" name="Picture 4" descr="A black and white logo  Description automatically generated">
            <a:extLst>
              <a:ext uri="{FF2B5EF4-FFF2-40B4-BE49-F238E27FC236}">
                <a16:creationId xmlns:a16="http://schemas.microsoft.com/office/drawing/2014/main" id="{D11FC49F-FDE2-F3B1-A647-0EB086FA4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83891"/>
            <a:ext cx="557538" cy="6375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56AB78-D901-75EC-8805-CBC53064F030}"/>
              </a:ext>
            </a:extLst>
          </p:cNvPr>
          <p:cNvSpPr txBox="1"/>
          <p:nvPr/>
        </p:nvSpPr>
        <p:spPr>
          <a:xfrm>
            <a:off x="838200" y="1300899"/>
            <a:ext cx="105156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Literature Survey</a:t>
            </a:r>
          </a:p>
          <a:p>
            <a:r>
              <a:rPr lang="en-US" dirty="0"/>
              <a:t>Review published research on SLM Inconel 718. </a:t>
            </a:r>
          </a:p>
          <a:p>
            <a:r>
              <a:rPr lang="en-US" dirty="0"/>
              <a:t>Identify process parameters and reported material properties. 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Dataset Preparation</a:t>
            </a:r>
          </a:p>
          <a:p>
            <a:r>
              <a:rPr lang="en-US" dirty="0"/>
              <a:t>Extract process parameters and experimental results. </a:t>
            </a:r>
          </a:p>
          <a:p>
            <a:r>
              <a:rPr lang="en-US" dirty="0"/>
              <a:t>Organize the data into a structured Excel database and convert it to CSV for analysis. 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Machine Learning</a:t>
            </a:r>
          </a:p>
          <a:p>
            <a:r>
              <a:rPr lang="en-US" dirty="0"/>
              <a:t>Train regression models to predict hardness and density from SLM process parameters. </a:t>
            </a:r>
          </a:p>
          <a:p>
            <a:r>
              <a:rPr lang="en-US" dirty="0"/>
              <a:t>Evaluate model accuracy using appropriate performance metrics (e.g., MAE, RMSE, R²). 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Experimental Validation</a:t>
            </a:r>
          </a:p>
          <a:p>
            <a:r>
              <a:rPr lang="en-US" dirty="0"/>
              <a:t>Fabricate Inconel 718 specimens using SLM. </a:t>
            </a:r>
          </a:p>
          <a:p>
            <a:r>
              <a:rPr lang="en-US" dirty="0"/>
              <a:t>Measure density, microhardness and examine the microstructure. </a:t>
            </a:r>
          </a:p>
          <a:p>
            <a:r>
              <a:rPr lang="en-US" dirty="0"/>
              <a:t>Compare experimental observations with model predictions and published literature.</a:t>
            </a:r>
          </a:p>
        </p:txBody>
      </p:sp>
    </p:spTree>
    <p:extLst>
      <p:ext uri="{BB962C8B-B14F-4D97-AF65-F5344CB8AC3E}">
        <p14:creationId xmlns:p14="http://schemas.microsoft.com/office/powerpoint/2010/main" val="7204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86B11-5286-C257-3893-314A85DC3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8185E-0F65-7194-810A-9358B66B4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56D3BAC-6609-C406-C62C-8AE646F59AC1}"/>
              </a:ext>
            </a:extLst>
          </p:cNvPr>
          <p:cNvSpPr txBox="1">
            <a:spLocks/>
          </p:cNvSpPr>
          <p:nvPr/>
        </p:nvSpPr>
        <p:spPr>
          <a:xfrm>
            <a:off x="838200" y="545654"/>
            <a:ext cx="10515600" cy="955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cs typeface="Calibri"/>
              </a:rPr>
              <a:t>CONCLUSION</a:t>
            </a:r>
          </a:p>
        </p:txBody>
      </p:sp>
      <p:pic>
        <p:nvPicPr>
          <p:cNvPr id="2" name="Picture 4" descr="A black and white logo  Description automatically generated">
            <a:extLst>
              <a:ext uri="{FF2B5EF4-FFF2-40B4-BE49-F238E27FC236}">
                <a16:creationId xmlns:a16="http://schemas.microsoft.com/office/drawing/2014/main" id="{4301F9F0-617B-B273-EBF0-B6BAB9B61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83891"/>
            <a:ext cx="557538" cy="6375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CBA5E4-4382-863A-488C-13549FD93B40}"/>
              </a:ext>
            </a:extLst>
          </p:cNvPr>
          <p:cNvSpPr txBox="1"/>
          <p:nvPr/>
        </p:nvSpPr>
        <p:spPr>
          <a:xfrm>
            <a:off x="838200" y="1300899"/>
            <a:ext cx="10515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Process parameters significantly influence the density and microhardness of SLM Inconel 718, as demonstrated by the reviewed literature.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However, the combined effect of build orientation on these properties remains insufficiently explored.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This project aims to investigate the influence of build orientation on density and microhardness and develop a machine learning model to predict and optimize these properties using process parameters.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The outcomes are expected to support the optimization of SLM process parameters, reduce experimental effort, and improve the quality and performance of Inconel 718 components.</a:t>
            </a:r>
          </a:p>
        </p:txBody>
      </p:sp>
    </p:spTree>
    <p:extLst>
      <p:ext uri="{BB962C8B-B14F-4D97-AF65-F5344CB8AC3E}">
        <p14:creationId xmlns:p14="http://schemas.microsoft.com/office/powerpoint/2010/main" val="1623736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4D5CA-2AC0-E62B-498F-366A100C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A895E-06A6-A478-6BC3-6AF4B60B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8115A8-1D66-A80E-8C61-3041D6FBF227}"/>
              </a:ext>
            </a:extLst>
          </p:cNvPr>
          <p:cNvSpPr txBox="1">
            <a:spLocks/>
          </p:cNvSpPr>
          <p:nvPr/>
        </p:nvSpPr>
        <p:spPr>
          <a:xfrm>
            <a:off x="838200" y="545654"/>
            <a:ext cx="10515600" cy="955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cs typeface="Calibri"/>
              </a:rPr>
              <a:t>REFERENCES</a:t>
            </a:r>
          </a:p>
        </p:txBody>
      </p:sp>
      <p:pic>
        <p:nvPicPr>
          <p:cNvPr id="2" name="Picture 4" descr="A black and white logo  Description automatically generated">
            <a:extLst>
              <a:ext uri="{FF2B5EF4-FFF2-40B4-BE49-F238E27FC236}">
                <a16:creationId xmlns:a16="http://schemas.microsoft.com/office/drawing/2014/main" id="{6F4DECA2-8ED9-38A7-D45B-D29F01A5F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83891"/>
            <a:ext cx="557538" cy="6375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B52A2F-205B-3CB5-3D03-DECA3C9DA5D1}"/>
              </a:ext>
            </a:extLst>
          </p:cNvPr>
          <p:cNvSpPr txBox="1"/>
          <p:nvPr/>
        </p:nvSpPr>
        <p:spPr>
          <a:xfrm>
            <a:off x="838200" y="1300899"/>
            <a:ext cx="105156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[1] </a:t>
            </a:r>
            <a:r>
              <a:rPr lang="en-US" sz="1600" dirty="0"/>
              <a:t>H. Liu, W. Cheng, Y. Sun, R. Ma, Y. Wang, J. Bai, L. Xue, X. Song, and C. Tan, </a:t>
            </a:r>
            <a:r>
              <a:rPr lang="en-US" sz="1600" b="1" dirty="0"/>
              <a:t>Effects of Process Parameters and Heat Treatment on Microstructure and Mechanical Characteristics of Laser Powder Bed Fusion Alloy Inconel 718</a:t>
            </a:r>
            <a:r>
              <a:rPr lang="en-US" sz="1600" dirty="0"/>
              <a:t>, </a:t>
            </a:r>
            <a:r>
              <a:rPr lang="en-US" sz="1600" i="1" dirty="0"/>
              <a:t>Coatings</a:t>
            </a:r>
            <a:r>
              <a:rPr lang="en-US" sz="1600" dirty="0"/>
              <a:t>, vol. 13, no. 1, Art. no. 189, 2023.</a:t>
            </a:r>
          </a:p>
          <a:p>
            <a:endParaRPr lang="en-US" sz="1600" dirty="0"/>
          </a:p>
          <a:p>
            <a:r>
              <a:rPr lang="en-US" sz="1600" b="1" dirty="0"/>
              <a:t>[2] </a:t>
            </a:r>
            <a:r>
              <a:rPr lang="en-US" sz="1600" dirty="0"/>
              <a:t>X. Liu, K. Wang, P. Hu, X. He, B. Yan, and X. Zhao, </a:t>
            </a:r>
            <a:r>
              <a:rPr lang="en-US" sz="1600" b="1" dirty="0"/>
              <a:t>Formability, Microstructure and Properties of Inconel 718 Superalloy Fabricated by Selective Laser Melting Additive Manufacture Technology</a:t>
            </a:r>
            <a:r>
              <a:rPr lang="en-US" sz="1600" dirty="0"/>
              <a:t>, </a:t>
            </a:r>
            <a:r>
              <a:rPr lang="en-US" sz="1600" i="1" dirty="0"/>
              <a:t>Materials</a:t>
            </a:r>
            <a:r>
              <a:rPr lang="en-US" sz="1600" dirty="0"/>
              <a:t>, vol. 14, no. 4, Art. no. 991, 2021.</a:t>
            </a:r>
          </a:p>
          <a:p>
            <a:endParaRPr lang="en-US" sz="1600" b="1" dirty="0"/>
          </a:p>
          <a:p>
            <a:r>
              <a:rPr lang="en-US" sz="1600" b="1" dirty="0"/>
              <a:t>[3] </a:t>
            </a:r>
            <a:r>
              <a:rPr lang="en-US" sz="1600" dirty="0"/>
              <a:t>S. B. Yusuf and R. </a:t>
            </a:r>
            <a:r>
              <a:rPr lang="en-US" sz="1600" dirty="0" err="1"/>
              <a:t>Sudhakarapandian</a:t>
            </a:r>
            <a:r>
              <a:rPr lang="en-US" sz="1600" dirty="0"/>
              <a:t>, </a:t>
            </a:r>
            <a:r>
              <a:rPr lang="en-US" sz="1600" b="1" dirty="0"/>
              <a:t>Q-Learning Algorithm for Predicting Mechanical Properties of Inconel 718 Processed by Selective Laser Melting</a:t>
            </a:r>
            <a:r>
              <a:rPr lang="en-US" sz="1600" dirty="0"/>
              <a:t>, </a:t>
            </a:r>
            <a:r>
              <a:rPr lang="en-US" sz="1600" i="1" dirty="0"/>
              <a:t>Applied Sciences</a:t>
            </a:r>
            <a:r>
              <a:rPr lang="en-US" sz="1600" dirty="0"/>
              <a:t>, vol. 16, Art. no. 181, 2026. </a:t>
            </a:r>
          </a:p>
          <a:p>
            <a:endParaRPr lang="en-US" sz="1600" b="1" dirty="0"/>
          </a:p>
          <a:p>
            <a:r>
              <a:rPr lang="en-US" sz="1600" b="1" dirty="0"/>
              <a:t>[4] </a:t>
            </a:r>
            <a:r>
              <a:rPr lang="en-IN" sz="1600" dirty="0"/>
              <a:t>H. Deng, Y. Wang, L. </a:t>
            </a:r>
            <a:r>
              <a:rPr lang="en-IN" sz="1600" dirty="0" err="1"/>
              <a:t>Lv</a:t>
            </a:r>
            <a:r>
              <a:rPr lang="en-IN" sz="1600" dirty="0"/>
              <a:t>, S. Zhang, Q. Bian, J. Luo, Z. Wu, Z. Liu, Z. Chen, L. Tan, and F. Liu, </a:t>
            </a:r>
            <a:r>
              <a:rPr lang="en-IN" sz="1600" b="1" dirty="0"/>
              <a:t>Orientation dependence of microstructure and mechanical property in selective laser-melted Inconel 718 alloy</a:t>
            </a:r>
            <a:r>
              <a:rPr lang="en-IN" sz="1600" dirty="0"/>
              <a:t>, </a:t>
            </a:r>
            <a:r>
              <a:rPr lang="en-IN" sz="1600" i="1" dirty="0"/>
              <a:t>Materials Characterization</a:t>
            </a:r>
            <a:r>
              <a:rPr lang="en-IN" sz="1600" dirty="0"/>
              <a:t>, vol. 220, Art. no. 114664, 2025. </a:t>
            </a:r>
          </a:p>
          <a:p>
            <a:endParaRPr lang="en-US" sz="1600" dirty="0"/>
          </a:p>
          <a:p>
            <a:r>
              <a:rPr lang="en-US" sz="1600" b="1" dirty="0"/>
              <a:t>[5] </a:t>
            </a:r>
            <a:r>
              <a:rPr lang="en-IN" sz="1600" dirty="0"/>
              <a:t>Jung Hyun Park, </a:t>
            </a:r>
            <a:r>
              <a:rPr lang="en-IN" sz="1600" dirty="0" err="1"/>
              <a:t>Gyung</a:t>
            </a:r>
            <a:r>
              <a:rPr lang="en-IN" sz="1600" dirty="0"/>
              <a:t> Bae Bang, Kee-Ahn Lee, Yong Son, Won Rae Kim, Hyung </a:t>
            </a:r>
            <a:r>
              <a:rPr lang="en-IN" sz="1600" dirty="0" err="1"/>
              <a:t>Giun</a:t>
            </a:r>
            <a:r>
              <a:rPr lang="en-IN" sz="1600" dirty="0"/>
              <a:t> Kim, </a:t>
            </a:r>
            <a:r>
              <a:rPr lang="en-US" sz="1600" b="1" dirty="0"/>
              <a:t>Effect on microstructural and mechanical properties of Inconel 718 superalloy fabricated by selective laser melting with rescanning by low energy density</a:t>
            </a:r>
            <a:r>
              <a:rPr lang="en-US" sz="1600" dirty="0"/>
              <a:t>. </a:t>
            </a:r>
            <a:r>
              <a:rPr lang="en-US" sz="1600" i="1" dirty="0"/>
              <a:t>Journal of Materials Research and Technology</a:t>
            </a:r>
            <a:r>
              <a:rPr lang="en-US" sz="1600" dirty="0"/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2379349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EE1F-7C78-2E64-5833-0D66744C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D23B4-49D8-2307-DE90-69E6BBE55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9F773F-D57C-8ACE-D2D0-91FB9BC825FE}"/>
              </a:ext>
            </a:extLst>
          </p:cNvPr>
          <p:cNvSpPr txBox="1">
            <a:spLocks/>
          </p:cNvSpPr>
          <p:nvPr/>
        </p:nvSpPr>
        <p:spPr>
          <a:xfrm>
            <a:off x="838200" y="545654"/>
            <a:ext cx="10515600" cy="955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cs typeface="Calibri"/>
              </a:rPr>
              <a:t>REFERENCES</a:t>
            </a:r>
          </a:p>
        </p:txBody>
      </p:sp>
      <p:pic>
        <p:nvPicPr>
          <p:cNvPr id="2" name="Picture 4" descr="A black and white logo  Description automatically generated">
            <a:extLst>
              <a:ext uri="{FF2B5EF4-FFF2-40B4-BE49-F238E27FC236}">
                <a16:creationId xmlns:a16="http://schemas.microsoft.com/office/drawing/2014/main" id="{2E41BC57-90E1-E883-DA31-C551226E8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83891"/>
            <a:ext cx="557538" cy="6375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333EEE-145C-9290-C510-727E59F95088}"/>
              </a:ext>
            </a:extLst>
          </p:cNvPr>
          <p:cNvSpPr txBox="1"/>
          <p:nvPr/>
        </p:nvSpPr>
        <p:spPr>
          <a:xfrm>
            <a:off x="838200" y="1300899"/>
            <a:ext cx="105156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[6] </a:t>
            </a:r>
            <a:r>
              <a:rPr lang="en-US" sz="1600" dirty="0"/>
              <a:t>Deng, D., </a:t>
            </a:r>
            <a:r>
              <a:rPr lang="en-US" sz="1600" dirty="0" err="1"/>
              <a:t>Moverare</a:t>
            </a:r>
            <a:r>
              <a:rPr lang="en-US" sz="1600" dirty="0"/>
              <a:t>, J., Peng, R., Söderberg, H., &amp; Andersson, J. (2017). </a:t>
            </a:r>
            <a:r>
              <a:rPr lang="en-US" sz="1600" b="1" dirty="0"/>
              <a:t>Microstructure and mechanical properties of Inconel 718 produced by selective laser melting: Sample orientation dependence and effects of post heat treatments</a:t>
            </a:r>
            <a:r>
              <a:rPr lang="en-US" sz="1600" dirty="0"/>
              <a:t>.</a:t>
            </a:r>
            <a:r>
              <a:rPr lang="en-US" sz="1600" b="1" dirty="0"/>
              <a:t> </a:t>
            </a:r>
            <a:r>
              <a:rPr lang="en-US" sz="1600" dirty="0"/>
              <a:t>Materials Science and Engineering A, 713, 294–306.</a:t>
            </a:r>
          </a:p>
          <a:p>
            <a:endParaRPr lang="en-US" sz="1600" dirty="0"/>
          </a:p>
          <a:p>
            <a:r>
              <a:rPr lang="en-US" sz="1600" b="1" dirty="0"/>
              <a:t>[7] </a:t>
            </a:r>
            <a:r>
              <a:rPr lang="en-US" sz="1600" dirty="0"/>
              <a:t>Guo, Q., Zhao, C., Qu, M., et al. (2022). </a:t>
            </a:r>
            <a:r>
              <a:rPr lang="en-US" sz="1600" b="1" dirty="0"/>
              <a:t>Effects of laser scanning speed and building direction on the microstructure and mechanical properties of selective laser melted Inconel 718 superalloy</a:t>
            </a:r>
            <a:r>
              <a:rPr lang="en-US" sz="1600" dirty="0"/>
              <a:t>. Materials Today Communications, 31, 103565.</a:t>
            </a:r>
          </a:p>
          <a:p>
            <a:endParaRPr lang="en-US" sz="1600" b="1" dirty="0"/>
          </a:p>
          <a:p>
            <a:r>
              <a:rPr lang="en-US" sz="1600" b="1" dirty="0"/>
              <a:t>[8] </a:t>
            </a:r>
            <a:r>
              <a:rPr lang="en-US" sz="1600" dirty="0"/>
              <a:t>Li, Y., et al. (2025</a:t>
            </a:r>
            <a:r>
              <a:rPr lang="en-US" sz="1600" b="1" dirty="0"/>
              <a:t>). Effect of heat treatment on the microstructure and mechanical anisotropy of selective laser-melted Inconel 718 alloy</a:t>
            </a:r>
            <a:r>
              <a:rPr lang="en-US" sz="1600" dirty="0"/>
              <a:t>. Materials Today Communications.</a:t>
            </a:r>
          </a:p>
          <a:p>
            <a:endParaRPr lang="en-US" sz="1600" b="1" dirty="0"/>
          </a:p>
          <a:p>
            <a:r>
              <a:rPr lang="en-US" sz="1600" b="1" dirty="0"/>
              <a:t>[9] </a:t>
            </a:r>
            <a:r>
              <a:rPr lang="en-US" sz="1600" dirty="0"/>
              <a:t>K. Moussaoui, W. Rubio, M. </a:t>
            </a:r>
            <a:r>
              <a:rPr lang="en-US" sz="1600" dirty="0" err="1"/>
              <a:t>Mousseigne</a:t>
            </a:r>
            <a:r>
              <a:rPr lang="en-US" sz="1600" dirty="0"/>
              <a:t>, T. Sultan, and F. Rezai, </a:t>
            </a:r>
            <a:r>
              <a:rPr lang="en-US" sz="1600" b="1" dirty="0"/>
              <a:t>Effects of Selective Laser Melting additive manufacturing parameters of Inconel 718 on porosity, microstructure and mechanical properties</a:t>
            </a:r>
            <a:r>
              <a:rPr lang="en-US" sz="1600" dirty="0"/>
              <a:t>, Mater. Sci. Eng. A, vol. 735, pp. 182–190, 2018.</a:t>
            </a:r>
          </a:p>
          <a:p>
            <a:endParaRPr lang="en-US" sz="1600" dirty="0"/>
          </a:p>
          <a:p>
            <a:r>
              <a:rPr lang="en-US" sz="1600" b="1" dirty="0"/>
              <a:t>[10] </a:t>
            </a:r>
            <a:r>
              <a:rPr lang="en-US" sz="1600" dirty="0"/>
              <a:t>J. H. Park, G. B. Bang, K.-A. Lee, Y. Son, W. R. Kim, and H. G. Kim, </a:t>
            </a:r>
            <a:r>
              <a:rPr lang="en-US" sz="1600" b="1" dirty="0"/>
              <a:t>Effect on microstructural and mechanical properties of Inconel 718 superalloy fabricated by selective laser melting with rescanning by low energy density</a:t>
            </a:r>
            <a:r>
              <a:rPr lang="en-US" sz="1600" dirty="0"/>
              <a:t>, J. Mater. Res. Technol., vol. 10, pp. 785–796, 2021.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58603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794E7-69A9-5CEF-6950-D0B56FC9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83167-10B8-990A-9F9D-B982AA61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pic>
        <p:nvPicPr>
          <p:cNvPr id="2" name="Picture 4" descr="A black and white logo  Description automatically generated">
            <a:extLst>
              <a:ext uri="{FF2B5EF4-FFF2-40B4-BE49-F238E27FC236}">
                <a16:creationId xmlns:a16="http://schemas.microsoft.com/office/drawing/2014/main" id="{C86DAC85-5A39-8EC4-1099-392F8EB4D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83891"/>
            <a:ext cx="557538" cy="6375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CF321C-D628-6CBD-6E56-8988D13225AC}"/>
              </a:ext>
            </a:extLst>
          </p:cNvPr>
          <p:cNvSpPr txBox="1"/>
          <p:nvPr/>
        </p:nvSpPr>
        <p:spPr>
          <a:xfrm>
            <a:off x="838200" y="3244334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64026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2215</TotalTime>
  <Words>1616</Words>
  <Application>Microsoft Office PowerPoint</Application>
  <PresentationFormat>Widescreen</PresentationFormat>
  <Paragraphs>148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Courier New</vt:lpstr>
      <vt:lpstr>Segoe UI</vt:lpstr>
      <vt:lpstr>Wingdings</vt:lpstr>
      <vt:lpstr>office theme</vt:lpstr>
      <vt:lpstr>Machine Learning-Based Prediction and Optimization of Microhardness and Relative Density in Selective Laser Melted Inconel 718</vt:lpstr>
      <vt:lpstr>CONTENTS</vt:lpstr>
      <vt:lpstr>INTRODUCTION</vt:lpstr>
      <vt:lpstr>INTRODUCTION…</vt:lpstr>
      <vt:lpstr>INTRODUCTION…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RMX3312</dc:creator>
  <cp:lastModifiedBy>Sunil KR</cp:lastModifiedBy>
  <cp:revision>34</cp:revision>
  <dcterms:created xsi:type="dcterms:W3CDTF">2024-08-05T06:32:56Z</dcterms:created>
  <dcterms:modified xsi:type="dcterms:W3CDTF">2026-09-10T18:31:05Z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4b79c04174964f3cba756f903b30efb0</vt:lpwstr>
  </property>
</Properties>
</file>